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2a5b581cd46da" /><Relationship Type="http://schemas.openxmlformats.org/officeDocument/2006/relationships/extended-properties" Target="/docProps/app.xml" Id="R4f081589591c4ddb" /><Relationship Type="http://schemas.openxmlformats.org/officeDocument/2006/relationships/officeDocument" Target="/ppt/presentation.xml" Id="R07209f9adc9c41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0f3e06a6d4853"/>
  </p:sldMasterIdLst>
  <p:notesMasterIdLst>
    <p:notesMasterId xmlns:r="http://schemas.openxmlformats.org/officeDocument/2006/relationships" r:id="R642628ba2c0f432f"/>
  </p:notesMasterIdLst>
  <p:sldIdLst>
    <p:sldId xmlns:r="http://schemas.openxmlformats.org/officeDocument/2006/relationships" id="256" r:id="R9ca5490e591048dd"/>
    <p:sldId xmlns:r="http://schemas.openxmlformats.org/officeDocument/2006/relationships" id="257" r:id="R61440053fbf748b6"/>
    <p:sldId xmlns:r="http://schemas.openxmlformats.org/officeDocument/2006/relationships" id="258" r:id="R9cc7a23b94b943de"/>
    <p:sldId xmlns:r="http://schemas.openxmlformats.org/officeDocument/2006/relationships" id="259" r:id="Rf71df0aa208e4606"/>
    <p:sldId xmlns:r="http://schemas.openxmlformats.org/officeDocument/2006/relationships" id="260" r:id="R0233b8e5af2841c1"/>
    <p:sldId xmlns:r="http://schemas.openxmlformats.org/officeDocument/2006/relationships" id="261" r:id="R48e098cedec1422c"/>
    <p:sldId xmlns:r="http://schemas.openxmlformats.org/officeDocument/2006/relationships" id="262" r:id="R9d61edea0ae54f1b"/>
    <p:sldId xmlns:r="http://schemas.openxmlformats.org/officeDocument/2006/relationships" id="263" r:id="R863a28a29bea4f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a8c98a529e47d8" /><Relationship Type="http://schemas.openxmlformats.org/officeDocument/2006/relationships/slideMaster" Target="/ppt/slideMasters/slideMaster1.xml" Id="R4400f3e06a6d4853" /><Relationship Type="http://schemas.openxmlformats.org/officeDocument/2006/relationships/notesMaster" Target="/ppt/notesMasters/notesMaster1.xml" Id="R642628ba2c0f432f" /><Relationship Type="http://schemas.openxmlformats.org/officeDocument/2006/relationships/presProps" Target="/ppt/presProps.xml" Id="Rdaa983c5f5604b61" /><Relationship Type="http://schemas.openxmlformats.org/officeDocument/2006/relationships/tableStyles" Target="/ppt/tableStyles.xml" Id="R83e67c270f5c4643" /><Relationship Type="http://schemas.openxmlformats.org/officeDocument/2006/relationships/slide" Target="/ppt/slides/slide1.xml" Id="R9ca5490e591048dd" /><Relationship Type="http://schemas.openxmlformats.org/officeDocument/2006/relationships/slide" Target="/ppt/slides/slide2.xml" Id="R61440053fbf748b6" /><Relationship Type="http://schemas.openxmlformats.org/officeDocument/2006/relationships/slide" Target="/ppt/slides/slide3.xml" Id="R9cc7a23b94b943de" /><Relationship Type="http://schemas.openxmlformats.org/officeDocument/2006/relationships/slide" Target="/ppt/slides/slide4.xml" Id="Rf71df0aa208e4606" /><Relationship Type="http://schemas.openxmlformats.org/officeDocument/2006/relationships/slide" Target="/ppt/slides/slide5.xml" Id="R0233b8e5af2841c1" /><Relationship Type="http://schemas.openxmlformats.org/officeDocument/2006/relationships/slide" Target="/ppt/slides/slide6.xml" Id="R48e098cedec1422c" /><Relationship Type="http://schemas.openxmlformats.org/officeDocument/2006/relationships/slide" Target="/ppt/slides/slide7.xml" Id="R9d61edea0ae54f1b" /><Relationship Type="http://schemas.openxmlformats.org/officeDocument/2006/relationships/slide" Target="/ppt/slides/slide8.xml" Id="R863a28a29bea4f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7cde68405e47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68175c913425c" /><Relationship Type="http://schemas.openxmlformats.org/officeDocument/2006/relationships/notesMaster" Target="/ppt/notesMasters/notesMaster1.xml" Id="Rdc38b20499a64c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f9bf36faac4adf" /><Relationship Type="http://schemas.openxmlformats.org/officeDocument/2006/relationships/notesMaster" Target="/ppt/notesMasters/notesMaster1.xml" Id="R854ca9bae90a4b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dade1e9ead4e38" /><Relationship Type="http://schemas.openxmlformats.org/officeDocument/2006/relationships/notesMaster" Target="/ppt/notesMasters/notesMaster1.xml" Id="R50d7b2a12f644e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5095881bd4dba" /><Relationship Type="http://schemas.openxmlformats.org/officeDocument/2006/relationships/notesMaster" Target="/ppt/notesMasters/notesMaster1.xml" Id="Rc070467c8f624d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c29baea0df4665" /><Relationship Type="http://schemas.openxmlformats.org/officeDocument/2006/relationships/notesMaster" Target="/ppt/notesMasters/notesMaster1.xml" Id="Rc85ddc7255574b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2172d9141460f" /><Relationship Type="http://schemas.openxmlformats.org/officeDocument/2006/relationships/notesMaster" Target="/ppt/notesMasters/notesMaster1.xml" Id="Rabaa138ddfb943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8901d6f1614269" /><Relationship Type="http://schemas.openxmlformats.org/officeDocument/2006/relationships/notesMaster" Target="/ppt/notesMasters/notesMaster1.xml" Id="R11db8a2f55994f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b40ca4af9f44cf" /><Relationship Type="http://schemas.openxmlformats.org/officeDocument/2006/relationships/notesMaster" Target="/ppt/notesMasters/notesMaster1.xml" Id="R973e91e77d6c4e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Concept-stage partner pitch. Original founder-supplied logo, preserved unchanged. Product requirements: https://github.com/GEEKProtocol0110/birp-home-canary/blob/main/docs/PRODUCT_VISION.md</a:t>
            </a:r>
          </a:p>
          <a:p xmlns:a="http://schemas.openxmlformats.org/drawingml/2006/main">
            <a:r>
              <a:t>No working physical device or customer validation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Audience is a proposed discovery focus, not a validated customer segment. Generated lifestyle concept illustration created October 20, 2026 using founder artwork as reference. It does not depict existing hardware. Source: https://github.com/GEEKProtocol0110/birp-home-canary/blob/main/docs/PRODUCT_VISION.md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requires top=better, bottom=worse. Intermediate preset, colors and fault behavior are proposed in control draft 0.2. Orbital position is not body tilt or a calibrated motor command. Unknown readings must not show a reassuring calm status. Sources: https://github.com/GEEKProtocol0110/birp-home-canary/blob/main/docs/PRODUCT_VISION.md and https://github.com/GEEKProtocol0110/birp-home-canary/blob/main/docs/control-spec-v0.2.md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Standalone core and optional connected services are founder requirements. Same-hardware goal and multi-room topology remain unproven. Camera/intercom remain in broader vision. Sources: https://github.com/GEEKProtocol0110/birp-home-canary/blob/main/docs/PRODUCT_VISION.md and https://github.com/GEEKProtocol0110/birp-home-canary/blob/main/docs/SOURCE_RECONCILIATION.md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founder-supplied exploded rendering preserved unchanged. The image is a historical concept illustration; components, dimensions and its text are not validated specifications. Earlier assistant drawing may place bird inside display, whereas authoritative founder requirement is physical perimeter movement. Sources: https://github.com/GEEKProtocol0110/birp-home-canary/blob/main/docs/ASSET_REGISTER.md and https://github.com/GEEKProtocol0110/birp-home-canary/blob/main/docs/SOURCE_RECONCILIATION.md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status as of October 20, 2026. No functioning firmware, physical prototype, buildable CAD, PCB, manufacturing quote, customer validation or test evidence. Sources: https://github.com/GEEKProtocol0110/birp-home-canary/blob/main/docs/STATUS.md and https://github.com/GEEKProtocol0110/birp-home-canary/blob/main/docs/brief/BIRP-Invention-Brief-v1.0.pdf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 is a proposed low-cost first experiment. It does not permanently exclude camera/intercom or other broader goals. Select sensor models, validate limits and review thresholds before physical operation. Sources: https://github.com/GEEKProtocol0110/birp-home-canary/blob/main/docs/FOUNDER_CHECKLIST.md and https://github.com/GEEKProtocol0110/birp-home-canary/blob/main/docs/control-spec-v0.2.md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is an engineering collaboration and feasibility discussion, not an investment or purchase offer. Terms, budget, ownership and licensing require separate discussion. Live concept site: https://birp-home-canary.oolongee.chatgpt.site</a:t>
            </a:r>
          </a:p>
          <a:p xmlns:a="http://schemas.openxmlformats.org/drawingml/2006/main">
            <a:r>
              <a:t>Repository: https://github.com/GEEKProtocol0110/birp-home-canary</a:t>
            </a:r>
          </a:p>
          <a:p xmlns:a="http://schemas.openxmlformats.org/drawingml/2006/main">
            <a:r>
              <a:t>Brief: https://github.com/GEEKProtocol0110/birp-home-canary/blob/main/docs/brief/BIRP-Invention-Brief-v1.0.pdf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7bc07b02441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94db65a344a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88796c9a84a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6ba92dc8341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ab5bf664148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878a6b9fb45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966EBB-EF31-4476-8F98-696DF55288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1613D9-4856-4EA0-A079-B7AB7E9D2B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0A6085-ABC2-42DF-866D-304037993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5082C4-0A56-4334-BE6F-45DB0FFD0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B7E22C-11A7-44A6-8EB7-4EE25AC457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801925-BAE3-4023-8890-E17BB32EF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8B8FBC-7971-4D6E-9620-C95C1F34E6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EA9599-C02F-4A20-A58E-1119E03D1A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E8C3B-4007-4083-A4CF-E2F04BB4F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42A8C9-1E47-437B-B118-AA04281F1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97e37a62e4a20" /><Relationship Type="http://schemas.openxmlformats.org/officeDocument/2006/relationships/slideLayout" Target="/ppt/slideLayouts/slideLayout1.xml" Id="Rde216c0761154da1" /><Relationship Type="http://schemas.openxmlformats.org/officeDocument/2006/relationships/slideLayout" Target="/ppt/slideLayouts/slideLayout2.xml" Id="R7b9458b6f08540cf" /><Relationship Type="http://schemas.openxmlformats.org/officeDocument/2006/relationships/slideLayout" Target="/ppt/slideLayouts/slideLayout3.xml" Id="R23dff5d90f0740a7" /><Relationship Type="http://schemas.openxmlformats.org/officeDocument/2006/relationships/slideLayout" Target="/ppt/slideLayouts/slideLayout4.xml" Id="R3764f752b8a34482" /><Relationship Type="http://schemas.openxmlformats.org/officeDocument/2006/relationships/slideLayout" Target="/ppt/slideLayouts/slideLayout5.xml" Id="Rf27c6e602c1b4b29" /><Relationship Type="http://schemas.openxmlformats.org/officeDocument/2006/relationships/slideLayout" Target="/ppt/slideLayouts/slideLayout6.xml" Id="R1d4d1cd74c674c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216c0761154da1"/>
    <p:sldLayoutId xmlns:r="http://schemas.openxmlformats.org/officeDocument/2006/relationships" id="2147483650" r:id="R7b9458b6f08540cf"/>
    <p:sldLayoutId xmlns:r="http://schemas.openxmlformats.org/officeDocument/2006/relationships" id="2147483651" r:id="R23dff5d90f0740a7"/>
    <p:sldLayoutId xmlns:r="http://schemas.openxmlformats.org/officeDocument/2006/relationships" id="2147483652" r:id="R3764f752b8a34482"/>
    <p:sldLayoutId xmlns:r="http://schemas.openxmlformats.org/officeDocument/2006/relationships" id="2147483653" r:id="Rf27c6e602c1b4b29"/>
    <p:sldLayoutId xmlns:r="http://schemas.openxmlformats.org/officeDocument/2006/relationships" id="2147483654" r:id="R1d4d1cd74c674c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32fbd22f64fbf" /><Relationship Type="http://schemas.openxmlformats.org/officeDocument/2006/relationships/image" Target="/ppt/media/image.jpeg" Id="Raa6dc4886d3d4d85" /><Relationship Type="http://schemas.openxmlformats.org/officeDocument/2006/relationships/notesSlide" Target="/ppt/notesSlides/notesSlide1.xml" Id="Rb9ea02ee90f2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47927ed4f4ec5" /><Relationship Type="http://schemas.openxmlformats.org/officeDocument/2006/relationships/image" Target="/ppt/media/image.png" Id="R17df05dbbf4b4183" /><Relationship Type="http://schemas.openxmlformats.org/officeDocument/2006/relationships/notesSlide" Target="/ppt/notesSlides/notesSlide2.xml" Id="R933e596d92674e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3ad01358b46ae" /><Relationship Type="http://schemas.openxmlformats.org/officeDocument/2006/relationships/notesSlide" Target="/ppt/notesSlides/notesSlide3.xml" Id="R6b354abcb9f440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9447cc22d4b52" /><Relationship Type="http://schemas.openxmlformats.org/officeDocument/2006/relationships/notesSlide" Target="/ppt/notesSlides/notesSlide4.xml" Id="R9d18df89de1e41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39c051e1c4ce6" /><Relationship Type="http://schemas.openxmlformats.org/officeDocument/2006/relationships/image" Target="/ppt/media/image2.jpeg" Id="R1eb594ab9d294643" /><Relationship Type="http://schemas.openxmlformats.org/officeDocument/2006/relationships/notesSlide" Target="/ppt/notesSlides/notesSlide5.xml" Id="R54d6a9cae15148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03c9814374f9f" /><Relationship Type="http://schemas.openxmlformats.org/officeDocument/2006/relationships/notesSlide" Target="/ppt/notesSlides/notesSlide6.xml" Id="Rfd5ff8c7bba048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f3bd566704988" /><Relationship Type="http://schemas.openxmlformats.org/officeDocument/2006/relationships/notesSlide" Target="/ppt/notesSlides/notesSlide7.xml" Id="Rda7e6316bf9846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6db6820454cc1" /><Relationship Type="http://schemas.openxmlformats.org/officeDocument/2006/relationships/notesSlide" Target="/ppt/notesSlides/notesSlide8.xml" Id="Ra38b0f6000bc4d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RP">
            <a:extLst xmlns:a="http://schemas.openxmlformats.org/drawingml/2006/main">
              <a:ext uri="{FF2B5EF4-FFF2-40B4-BE49-F238E27FC236}">
                <a16:creationId xmlns:a16="http://schemas.microsoft.com/office/drawing/2014/main" id="{56BBD6A0-0831-4D45-883C-77CEDF9B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BIRP</a:t>
            </a:r>
          </a:p>
        </p:txBody>
      </p:sp>
      <p:sp>
        <p:nvSpPr>
          <p:cNvPr id="2" name="BIRP  •  Partner discussion  •  October ">
            <a:extLst xmlns:a="http://schemas.openxmlformats.org/drawingml/2006/main">
              <a:ext uri="{FF2B5EF4-FFF2-40B4-BE49-F238E27FC236}">
                <a16:creationId xmlns:a16="http://schemas.microsoft.com/office/drawing/2014/main" id="{6CA33D0C-2DC4-4F19-AEA6-56AF616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BIRP  •  Partner discussion  •  October 2026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B93E7A2-E602-48B0-97B7-6B5AC64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The Home Canary">
            <a:extLst xmlns:a="http://schemas.openxmlformats.org/drawingml/2006/main">
              <a:ext uri="{FF2B5EF4-FFF2-40B4-BE49-F238E27FC236}">
                <a16:creationId xmlns:a16="http://schemas.microsoft.com/office/drawing/2014/main" id="{441BA470-F86B-4F67-87A4-618E4017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The Home Canary</a:t>
            </a:r>
          </a:p>
        </p:txBody>
      </p:sp>
      <p:sp>
        <p:nvSpPr>
          <p:cNvPr id="5" name="A physical bird that makes&#10;room conditio">
            <a:extLst xmlns:a="http://schemas.openxmlformats.org/drawingml/2006/main">
              <a:ext uri="{FF2B5EF4-FFF2-40B4-BE49-F238E27FC236}">
                <a16:creationId xmlns:a16="http://schemas.microsoft.com/office/drawing/2014/main" id="{D951BB36-FD63-448E-8ADB-68AC2FB3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 physical bird that makes</a:t>
            </a:r>
          </a:p>
          <a:p xmlns:a="http://schemas.openxmlformats.org/drawingml/2006/main">
            <a:pPr>
              <a:def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room conditions visible.</a:t>
            </a:r>
          </a:p>
        </p:txBody>
      </p:sp>
      <p:sp>
        <p:nvSpPr>
          <p:cNvPr id="6" name="Engineering partner discussion">
            <a:extLst xmlns:a="http://schemas.openxmlformats.org/drawingml/2006/main">
              <a:ext uri="{FF2B5EF4-FFF2-40B4-BE49-F238E27FC236}">
                <a16:creationId xmlns:a16="http://schemas.microsoft.com/office/drawing/2014/main" id="{F5808E4F-42BF-4EF1-B511-91E3946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Engineering partner discussion</a:t>
            </a:r>
          </a:p>
        </p:txBody>
      </p:sp>
      <p:sp>
        <p:nvSpPr>
          <p:cNvPr id="7" name="Michael Gee  •  Founder">
            <a:extLst xmlns:a="http://schemas.openxmlformats.org/drawingml/2006/main">
              <a:ext uri="{FF2B5EF4-FFF2-40B4-BE49-F238E27FC236}">
                <a16:creationId xmlns:a16="http://schemas.microsoft.com/office/drawing/2014/main" id="{F6E98C25-79CC-4A17-AB2F-5EEB6C36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Michael Gee  •  Founder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42252-FC77-492A-9096-249E68D5E0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dc4886d3d4d85"/>
          <a:stretch xmlns:a="http://schemas.openxmlformats.org/drawingml/2006/main"/>
        </p:blipFill>
        <p:spPr>
          <a:xfrm xmlns:a="http://schemas.openxmlformats.org/drawingml/2006/main">
            <a:off x="7410450" y="1428750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83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C9F00-0E3E-425E-8DB7-02BBA7FC9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f05dbbf4b41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 clearer signal&#10;in the room">
            <a:extLst xmlns:a="http://schemas.openxmlformats.org/drawingml/2006/main">
              <a:ext uri="{FF2B5EF4-FFF2-40B4-BE49-F238E27FC236}">
                <a16:creationId xmlns:a16="http://schemas.microsoft.com/office/drawing/2014/main" id="{E8A35C87-78BA-4771-9634-AE813BD2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62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 clearer signal</a:t>
            </a:r>
          </a:p>
          <a:p xmlns:a="http://schemas.openxmlformats.org/drawingml/2006/main">
            <a: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in the room</a:t>
            </a:r>
          </a:p>
        </p:txBody>
      </p:sp>
      <p:sp>
        <p:nvSpPr>
          <p:cNvPr id="3" name="Working hypothesis">
            <a:extLst xmlns:a="http://schemas.openxmlformats.org/drawingml/2006/main">
              <a:ext uri="{FF2B5EF4-FFF2-40B4-BE49-F238E27FC236}">
                <a16:creationId xmlns:a16="http://schemas.microsoft.com/office/drawing/2014/main" id="{31845B42-3C17-4991-B1B7-866248E1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Working hypothesis</a:t>
            </a:r>
          </a:p>
        </p:txBody>
      </p:sp>
      <p:sp>
        <p:nvSpPr>
          <p:cNvPr id="4" name="A glanceable bird and halo could help&#10;pe">
            <a:extLst xmlns:a="http://schemas.openxmlformats.org/drawingml/2006/main">
              <a:ext uri="{FF2B5EF4-FFF2-40B4-BE49-F238E27FC236}">
                <a16:creationId xmlns:a16="http://schemas.microsoft.com/office/drawing/2014/main" id="{C80318CF-CE58-4CF7-8D99-2BD9CFA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00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 glanceable bird and halo could help</a:t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people notice a change and check</a:t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the reading that caused it.</a:t>
            </a:r>
          </a:p>
        </p:txBody>
      </p:sp>
      <p:sp>
        <p:nvSpPr>
          <p:cNvPr id="5" name="First audience to test">
            <a:extLst xmlns:a="http://schemas.openxmlformats.org/drawingml/2006/main">
              <a:ext uri="{FF2B5EF4-FFF2-40B4-BE49-F238E27FC236}">
                <a16:creationId xmlns:a16="http://schemas.microsoft.com/office/drawing/2014/main" id="{73D8F90C-A0CA-474F-98EC-4CCB976C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First audience to test</a:t>
            </a:r>
          </a:p>
        </p:txBody>
      </p:sp>
      <p:sp>
        <p:nvSpPr>
          <p:cNvPr id="6" name="People who want simple room-level&#10;air aw">
            <a:extLst xmlns:a="http://schemas.openxmlformats.org/drawingml/2006/main">
              <a:ext uri="{FF2B5EF4-FFF2-40B4-BE49-F238E27FC236}">
                <a16:creationId xmlns:a16="http://schemas.microsoft.com/office/drawing/2014/main" id="{5DDD3584-5825-45B8-8852-028D6174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People who want simple room-level</a:t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air awareness at home.</a:t>
            </a:r>
          </a:p>
        </p:txBody>
      </p:sp>
      <p:sp>
        <p:nvSpPr>
          <p:cNvPr id="7" name="Concept illustration. Demand is unvalida">
            <a:extLst xmlns:a="http://schemas.openxmlformats.org/drawingml/2006/main">
              <a:ext uri="{FF2B5EF4-FFF2-40B4-BE49-F238E27FC236}">
                <a16:creationId xmlns:a16="http://schemas.microsoft.com/office/drawing/2014/main" id="{93E550F5-B3BA-40BA-839B-CD8C95A6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Concept illustration. Demand is unvalidated.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B75E9C7D-AB6F-41EB-B017-08A8D600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4172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bird moves around the perimeter">
            <a:extLst xmlns:a="http://schemas.openxmlformats.org/drawingml/2006/main">
              <a:ext uri="{FF2B5EF4-FFF2-40B4-BE49-F238E27FC236}">
                <a16:creationId xmlns:a16="http://schemas.microsoft.com/office/drawing/2014/main" id="{49FC1EA0-86AF-463F-BC5A-C803DD7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The bird moves around the perimeter</a:t>
            </a:r>
          </a:p>
        </p:txBody>
      </p:sp>
      <p:sp>
        <p:nvSpPr>
          <p:cNvPr id="2" name="BIRP  •  Partner discussion  •  October ">
            <a:extLst xmlns:a="http://schemas.openxmlformats.org/drawingml/2006/main">
              <a:ext uri="{FF2B5EF4-FFF2-40B4-BE49-F238E27FC236}">
                <a16:creationId xmlns:a16="http://schemas.microsoft.com/office/drawing/2014/main" id="{0453EFBA-56F5-4785-B72D-62462A31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BIRP  •  Partner discussion  •  October 2026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13648362-B119-4450-8AB1-B9E99A84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A physical bird outside a 5-inch round d">
            <a:extLst xmlns:a="http://schemas.openxmlformats.org/drawingml/2006/main">
              <a:ext uri="{FF2B5EF4-FFF2-40B4-BE49-F238E27FC236}">
                <a16:creationId xmlns:a16="http://schemas.microsoft.com/office/drawing/2014/main" id="{F14EE3FB-6614-429C-8195-BAD59B69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1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 physical bird outside a 5-inch round display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31048-E146-4469-99D6-0A2794384C39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048000"/>
                <a:gridCol w="53911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6CD"/>
                      </a:solidFill>
                      <a:prstDash val="solid"/>
                    </a:lnL>
                    <a:lnR w="9525">
                      <a:solidFill>
                        <a:srgbClr val="CDD6CD"/>
                      </a:solidFill>
                      <a:prstDash val="solid"/>
                    </a:lnR>
                    <a:lnT w="9525">
                      <a:solidFill>
                        <a:srgbClr val="CDD6CD"/>
                      </a:solidFill>
                      <a:prstDash val="solid"/>
                    </a:lnT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17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Bird position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T w="9525">
                      <a:solidFill>
                        <a:srgbClr val="CDD6CD"/>
                      </a:solidFill>
                      <a:prstDash val="solid"/>
                    </a:lnT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173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Supporting signal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T w="9525">
                      <a:solidFill>
                        <a:srgbClr val="CDD6CD"/>
                      </a:solidFill>
                      <a:prstDash val="solid"/>
                    </a:lnT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173F3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6CD"/>
                      </a:solidFill>
                      <a:prstDash val="solid"/>
                    </a:lnL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Teal halo and readings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Needs 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6CD"/>
                      </a:solidFill>
                      <a:prstDash val="solid"/>
                    </a:lnL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Partway down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Amber halo and visible cause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 concern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6CD"/>
                      </a:solidFill>
                      <a:prstDash val="solid"/>
                    </a:lnL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Bottom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F3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 halo and visible cause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6CD"/>
                      </a:solidFill>
                      <a:prstDash val="solid"/>
                    </a:lnR>
                    <a:lnB w="9525">
                      <a:solidFill>
                        <a:srgbClr val="CDD6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roposed states. Thresholds and mechanis">
            <a:extLst xmlns:a="http://schemas.openxmlformats.org/drawingml/2006/main">
              <a:ext uri="{FF2B5EF4-FFF2-40B4-BE49-F238E27FC236}">
                <a16:creationId xmlns:a16="http://schemas.microsoft.com/office/drawing/2014/main" id="{2F45027B-8987-4744-9A5A-7C43A6CC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Proposed states. Thresholds and mechanism remain unvalidated.</a:t>
            </a:r>
          </a:p>
        </p:txBody>
      </p:sp>
      <p:sp>
        <p:nvSpPr>
          <p:cNvPr id="7" name="Missing readings get an explicit status.">
            <a:extLst xmlns:a="http://schemas.openxmlformats.org/drawingml/2006/main">
              <a:ext uri="{FF2B5EF4-FFF2-40B4-BE49-F238E27FC236}">
                <a16:creationId xmlns:a16="http://schemas.microsoft.com/office/drawing/2014/main" id="{3F173A00-6A70-4032-B197-ED507381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Missing readings get an explicit status. Body tilt is a separate motion.</a:t>
            </a:r>
          </a:p>
        </p:txBody>
      </p:sp>
    </p:spTree>
    <p:extLst>
      <p:ext uri="{BB962C8B-B14F-4D97-AF65-F5344CB8AC3E}">
        <p14:creationId xmlns:p14="http://schemas.microsoft.com/office/powerpoint/2010/main" val="1940124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F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tandalone core, optional connected serv">
            <a:extLst xmlns:a="http://schemas.openxmlformats.org/drawingml/2006/main">
              <a:ext uri="{FF2B5EF4-FFF2-40B4-BE49-F238E27FC236}">
                <a16:creationId xmlns:a16="http://schemas.microsoft.com/office/drawing/2014/main" id="{AA3CEEBB-5696-469D-80F7-4556FE38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Standalone core, optional connected services</a:t>
            </a:r>
          </a:p>
        </p:txBody>
      </p:sp>
      <p:sp>
        <p:nvSpPr>
          <p:cNvPr id="2" name="BIRP  •  Partner discussion  •  October ">
            <a:extLst xmlns:a="http://schemas.openxmlformats.org/drawingml/2006/main">
              <a:ext uri="{FF2B5EF4-FFF2-40B4-BE49-F238E27FC236}">
                <a16:creationId xmlns:a16="http://schemas.microsoft.com/office/drawing/2014/main" id="{2C721D1A-4A4B-4597-B75C-C535C689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rPr>
              <a:t>BIRP  •  Partner discussion  •  October 2026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B4EB983-0C34-403B-B999-BEC27EAA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Core experience">
            <a:extLst xmlns:a="http://schemas.openxmlformats.org/drawingml/2006/main">
              <a:ext uri="{FF2B5EF4-FFF2-40B4-BE49-F238E27FC236}">
                <a16:creationId xmlns:a16="http://schemas.microsoft.com/office/drawing/2014/main" id="{5B488774-812D-4A96-9CFA-79909A9E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Core experience</a:t>
            </a:r>
          </a:p>
        </p:txBody>
      </p:sp>
      <p:sp>
        <p:nvSpPr>
          <p:cNvPr id="5" name="Room readings on the display&#10;&#10;Bird and h">
            <a:extLst xmlns:a="http://schemas.openxmlformats.org/drawingml/2006/main">
              <a:ext uri="{FF2B5EF4-FFF2-40B4-BE49-F238E27FC236}">
                <a16:creationId xmlns:a16="http://schemas.microsoft.com/office/drawing/2014/main" id="{3C892571-3DDB-4D6F-9103-0130EDFD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Room readings on the display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Bird and halo in the room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Useful without an app</a:t>
            </a:r>
          </a:p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or subscription</a:t>
            </a:r>
          </a:p>
        </p:txBody>
      </p:sp>
      <p:sp>
        <p:nvSpPr>
          <p:cNvPr id="6" name="Broader product vision">
            <a:extLst xmlns:a="http://schemas.openxmlformats.org/drawingml/2006/main">
              <a:ext uri="{FF2B5EF4-FFF2-40B4-BE49-F238E27FC236}">
                <a16:creationId xmlns:a16="http://schemas.microsoft.com/office/drawing/2014/main" id="{8DE4A9FA-BD1E-4CF0-A219-773EABB1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DDB345"/>
                </a:solidFill>
                <a:latin typeface="DejaVu Sans"/>
                <a:ea typeface="DejaVu Sans"/>
                <a:cs typeface="DejaVu Sans"/>
              </a:rPr>
              <a:t>Broader product vision</a:t>
            </a:r>
          </a:p>
        </p:txBody>
      </p:sp>
      <p:sp>
        <p:nvSpPr>
          <p:cNvPr id="7" name="Optional app and smart-home links&#10;&#10;Camer">
            <a:extLst xmlns:a="http://schemas.openxmlformats.org/drawingml/2006/main">
              <a:ext uri="{FF2B5EF4-FFF2-40B4-BE49-F238E27FC236}">
                <a16:creationId xmlns:a16="http://schemas.microsoft.com/office/drawing/2014/main" id="{5E178AB6-A5A1-45CA-8AFB-1DD3562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9339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Optional app and smart-home links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Camera and video intercom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Multiple room units</a:t>
            </a:r>
          </a:p>
          <a:p xmlns:a="http://schemas.openxmlformats.org/drawingml/2006/main">
            <a:pPr>
              <a:def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with a master unit</a:t>
            </a:r>
          </a:p>
        </p:txBody>
      </p:sp>
      <p:sp>
        <p:nvSpPr>
          <p:cNvPr id="8" name="Product requirements and roadmap goals. ">
            <a:extLst xmlns:a="http://schemas.openxmlformats.org/drawingml/2006/main">
              <a:ext uri="{FF2B5EF4-FFF2-40B4-BE49-F238E27FC236}">
                <a16:creationId xmlns:a16="http://schemas.microsoft.com/office/drawing/2014/main" id="{57E80B42-3BE2-413B-9DE5-C0D531A2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6E0D6"/>
                </a:solidFill>
                <a:latin typeface="DejaVu Sans"/>
                <a:ea typeface="DejaVu Sans"/>
                <a:cs typeface="DejaVu Sans"/>
              </a:rPr>
              <a:t>Product requirements and roadmap goals. Hardware and services are not implemented.</a:t>
            </a:r>
          </a:p>
        </p:txBody>
      </p:sp>
    </p:spTree>
    <p:extLst>
      <p:ext uri="{BB962C8B-B14F-4D97-AF65-F5344CB8AC3E}">
        <p14:creationId xmlns:p14="http://schemas.microsoft.com/office/powerpoint/2010/main" val="176414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riginal design direction">
            <a:extLst xmlns:a="http://schemas.openxmlformats.org/drawingml/2006/main">
              <a:ext uri="{FF2B5EF4-FFF2-40B4-BE49-F238E27FC236}">
                <a16:creationId xmlns:a16="http://schemas.microsoft.com/office/drawing/2014/main" id="{D98CA1D4-3AFD-426E-A092-A395FC85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Original design direction</a:t>
            </a:r>
          </a:p>
        </p:txBody>
      </p:sp>
      <p:sp>
        <p:nvSpPr>
          <p:cNvPr id="2" name="BIRP  •  Partner discussion  •  October ">
            <a:extLst xmlns:a="http://schemas.openxmlformats.org/drawingml/2006/main">
              <a:ext uri="{FF2B5EF4-FFF2-40B4-BE49-F238E27FC236}">
                <a16:creationId xmlns:a16="http://schemas.microsoft.com/office/drawing/2014/main" id="{BA771960-19D8-4261-B73C-6886DA8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BIRP  •  Partner discussion  •  October 2026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965DEDF0-F42F-4DC0-B115-FE3473B9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2B61A-F119-4BFB-BC35-8542D39C3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594ab9d294643"/>
          <a:stretch xmlns:a="http://schemas.openxmlformats.org/drawingml/2006/main"/>
        </p:blipFill>
        <p:spPr>
          <a:xfrm xmlns:a="http://schemas.openxmlformats.org/drawingml/2006/main">
            <a:off x="1400175" y="1676400"/>
            <a:ext cx="614362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Round display&#10;and light halo">
            <a:extLst xmlns:a="http://schemas.openxmlformats.org/drawingml/2006/main">
              <a:ext uri="{FF2B5EF4-FFF2-40B4-BE49-F238E27FC236}">
                <a16:creationId xmlns:a16="http://schemas.microsoft.com/office/drawing/2014/main" id="{B620638D-3BAB-444F-B336-6CFF03F9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52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Round display</a:t>
            </a:r>
          </a:p>
          <a:p xmlns:a="http://schemas.openxmlformats.org/drawingml/2006/main">
            <a: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and light halo</a:t>
            </a:r>
          </a:p>
        </p:txBody>
      </p:sp>
      <p:sp>
        <p:nvSpPr>
          <p:cNvPr id="6" name="Wall or stand&#10;mounting concept">
            <a:extLst xmlns:a="http://schemas.openxmlformats.org/drawingml/2006/main">
              <a:ext uri="{FF2B5EF4-FFF2-40B4-BE49-F238E27FC236}">
                <a16:creationId xmlns:a16="http://schemas.microsoft.com/office/drawing/2014/main" id="{6A45BE2D-C4E0-4612-A21D-8E1003CE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05175"/>
            <a:ext cx="276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Wall or stand</a:t>
            </a:r>
          </a:p>
          <a:p xmlns:a="http://schemas.openxmlformats.org/drawingml/2006/main">
            <a:pPr>
              <a:def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mounting concept</a:t>
            </a:r>
          </a:p>
        </p:txBody>
      </p:sp>
      <p:sp>
        <p:nvSpPr>
          <p:cNvPr id="7" name="Baby, pet, plant&#10;and greenhouse&#10;use case">
            <a:extLst xmlns:a="http://schemas.openxmlformats.org/drawingml/2006/main">
              <a:ext uri="{FF2B5EF4-FFF2-40B4-BE49-F238E27FC236}">
                <a16:creationId xmlns:a16="http://schemas.microsoft.com/office/drawing/2014/main" id="{CBA40FDC-6883-4A42-880B-648560EC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243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Baby, pet, plant</a:t>
            </a:r>
          </a:p>
          <a:p xmlns:a="http://schemas.openxmlformats.org/drawingml/2006/main">
            <a: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and greenhouse</a:t>
            </a:r>
          </a:p>
          <a:p xmlns:a="http://schemas.openxmlformats.org/drawingml/2006/main">
            <a:pPr>
              <a:def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use cases to explore</a:t>
            </a:r>
          </a:p>
        </p:txBody>
      </p:sp>
      <p:sp>
        <p:nvSpPr>
          <p:cNvPr id="8" name="Original concept artwork. Labels and ass">
            <a:extLst xmlns:a="http://schemas.openxmlformats.org/drawingml/2006/main">
              <a:ext uri="{FF2B5EF4-FFF2-40B4-BE49-F238E27FC236}">
                <a16:creationId xmlns:a16="http://schemas.microsoft.com/office/drawing/2014/main" id="{739884CE-CF69-4CEA-B8FF-51CFD827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Original concept artwork. Labels and assembly are not a build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950722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 documented concept, ready for review">
            <a:extLst xmlns:a="http://schemas.openxmlformats.org/drawingml/2006/main">
              <a:ext uri="{FF2B5EF4-FFF2-40B4-BE49-F238E27FC236}">
                <a16:creationId xmlns:a16="http://schemas.microsoft.com/office/drawing/2014/main" id="{C95C2B8F-8006-4446-BB9C-0B31D3B3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 documented concept, ready for review</a:t>
            </a:r>
          </a:p>
        </p:txBody>
      </p:sp>
      <p:sp>
        <p:nvSpPr>
          <p:cNvPr id="2" name="BIRP  •  Partner discussion  •  October ">
            <a:extLst xmlns:a="http://schemas.openxmlformats.org/drawingml/2006/main">
              <a:ext uri="{FF2B5EF4-FFF2-40B4-BE49-F238E27FC236}">
                <a16:creationId xmlns:a16="http://schemas.microsoft.com/office/drawing/2014/main" id="{3EE74184-9540-4F53-8049-3BA81718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BIRP  •  Partner discussion  •  October 2026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88B6D127-9F63-4882-9FB4-CF8BBC02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Available today">
            <a:extLst xmlns:a="http://schemas.openxmlformats.org/drawingml/2006/main">
              <a:ext uri="{FF2B5EF4-FFF2-40B4-BE49-F238E27FC236}">
                <a16:creationId xmlns:a16="http://schemas.microsoft.com/office/drawing/2014/main" id="{45D98F34-804D-4447-BF94-BC9E30C5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Available today</a:t>
            </a:r>
          </a:p>
        </p:txBody>
      </p:sp>
      <p:sp>
        <p:nvSpPr>
          <p:cNvPr id="5" name="Original product artwork&#10;&#10;Four-page inve">
            <a:extLst xmlns:a="http://schemas.openxmlformats.org/drawingml/2006/main">
              <a:ext uri="{FF2B5EF4-FFF2-40B4-BE49-F238E27FC236}">
                <a16:creationId xmlns:a16="http://schemas.microsoft.com/office/drawing/2014/main" id="{B9111491-045F-4A9F-B254-03F1C6F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238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Original product artwork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Four-page invention brief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Browser simulation of bird states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Draft control and fault behavior</a:t>
            </a:r>
          </a:p>
        </p:txBody>
      </p:sp>
      <p:sp>
        <p:nvSpPr>
          <p:cNvPr id="6" name="Evidence still needed">
            <a:extLst xmlns:a="http://schemas.openxmlformats.org/drawingml/2006/main">
              <a:ext uri="{FF2B5EF4-FFF2-40B4-BE49-F238E27FC236}">
                <a16:creationId xmlns:a16="http://schemas.microsoft.com/office/drawing/2014/main" id="{A9A12047-623D-419D-8EC1-C0535E6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Evidence still needed</a:t>
            </a:r>
          </a:p>
        </p:txBody>
      </p:sp>
      <p:sp>
        <p:nvSpPr>
          <p:cNvPr id="7" name="Working physical mechanism&#10;&#10;Integrated s">
            <a:extLst xmlns:a="http://schemas.openxmlformats.org/drawingml/2006/main">
              <a:ext uri="{FF2B5EF4-FFF2-40B4-BE49-F238E27FC236}">
                <a16:creationId xmlns:a16="http://schemas.microsoft.com/office/drawing/2014/main" id="{530ACDF8-FED2-49CB-A8E0-CB417517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987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Working physical mechanism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Integrated sensors and firmware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User understanding and demand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Cost and manufacturing feasibility</a:t>
            </a:r>
          </a:p>
        </p:txBody>
      </p:sp>
      <p:sp>
        <p:nvSpPr>
          <p:cNvPr id="8" name="The browser demo uses simulated input. N">
            <a:extLst xmlns:a="http://schemas.openxmlformats.org/drawingml/2006/main">
              <a:ext uri="{FF2B5EF4-FFF2-40B4-BE49-F238E27FC236}">
                <a16:creationId xmlns:a16="http://schemas.microsoft.com/office/drawing/2014/main" id="{DE10E035-3FBE-4517-B079-4AE8CABE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The browser demo uses simulated input. No physical prototype has been validated.</a:t>
            </a:r>
          </a:p>
        </p:txBody>
      </p:sp>
    </p:spTree>
    <p:extLst>
      <p:ext uri="{BB962C8B-B14F-4D97-AF65-F5344CB8AC3E}">
        <p14:creationId xmlns:p14="http://schemas.microsoft.com/office/powerpoint/2010/main" val="1511149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he first physical proof">
            <a:extLst xmlns:a="http://schemas.openxmlformats.org/drawingml/2006/main">
              <a:ext uri="{FF2B5EF4-FFF2-40B4-BE49-F238E27FC236}">
                <a16:creationId xmlns:a16="http://schemas.microsoft.com/office/drawing/2014/main" id="{D344DFA1-B616-4434-AAEB-8AD44C70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The first physical proof</a:t>
            </a:r>
          </a:p>
        </p:txBody>
      </p:sp>
      <p:sp>
        <p:nvSpPr>
          <p:cNvPr id="2" name="BIRP  •  Partner discussion  •  October ">
            <a:extLst xmlns:a="http://schemas.openxmlformats.org/drawingml/2006/main">
              <a:ext uri="{FF2B5EF4-FFF2-40B4-BE49-F238E27FC236}">
                <a16:creationId xmlns:a16="http://schemas.microsoft.com/office/drawing/2014/main" id="{C86B6FE0-DFF3-4DCF-BD59-F247610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BIRP  •  Partner discussion  •  October 2026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5BB2FBDB-4221-4EAB-8ACA-19D8B5C2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68195715-5081-404A-8769-9668F1B9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User understanding">
            <a:extLst xmlns:a="http://schemas.openxmlformats.org/drawingml/2006/main">
              <a:ext uri="{FF2B5EF4-FFF2-40B4-BE49-F238E27FC236}">
                <a16:creationId xmlns:a16="http://schemas.microsoft.com/office/drawing/2014/main" id="{66A4EFBB-A80A-4573-9EA7-3DA09FF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988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User understanding</a:t>
            </a:r>
          </a:p>
        </p:txBody>
      </p:sp>
      <p:sp>
        <p:nvSpPr>
          <p:cNvPr id="6" name="Test whether people understand the bird’">
            <a:extLst xmlns:a="http://schemas.openxmlformats.org/drawingml/2006/main">
              <a:ext uri="{FF2B5EF4-FFF2-40B4-BE49-F238E27FC236}">
                <a16:creationId xmlns:a16="http://schemas.microsoft.com/office/drawing/2014/main" id="{CDD525C2-662B-4E6C-B64A-A035C2EA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988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Test whether people understand the bird’s top-to-bottom meaning.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4826D32A-8AEC-4098-AFBD-05037712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Mechanism feasibility">
            <a:extLst xmlns:a="http://schemas.openxmlformats.org/drawingml/2006/main">
              <a:ext uri="{FF2B5EF4-FFF2-40B4-BE49-F238E27FC236}">
                <a16:creationId xmlns:a16="http://schemas.microsoft.com/office/drawing/2014/main" id="{61C940C0-4D27-46C7-BE3E-231818CE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24175"/>
            <a:ext cx="988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Mechanism feasibility</a:t>
            </a:r>
          </a:p>
        </p:txBody>
      </p:sp>
      <p:sp>
        <p:nvSpPr>
          <p:cNvPr id="9" name="Select a reference method and prove boun">
            <a:extLst xmlns:a="http://schemas.openxmlformats.org/drawingml/2006/main">
              <a:ext uri="{FF2B5EF4-FFF2-40B4-BE49-F238E27FC236}">
                <a16:creationId xmlns:a16="http://schemas.microsoft.com/office/drawing/2014/main" id="{7B057198-D6D2-48C2-AF62-095410A4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62325"/>
            <a:ext cx="988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Select a reference method and prove bounded perimeter travel.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0C408354-DA60-4468-975A-A1731F44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Sensor-to-indicator loop">
            <a:extLst xmlns:a="http://schemas.openxmlformats.org/drawingml/2006/main">
              <a:ext uri="{FF2B5EF4-FFF2-40B4-BE49-F238E27FC236}">
                <a16:creationId xmlns:a16="http://schemas.microsoft.com/office/drawing/2014/main" id="{55194E1D-773C-472A-B689-D6C6BED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988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Sensor-to-indicator loop</a:t>
            </a:r>
          </a:p>
        </p:txBody>
      </p:sp>
      <p:sp>
        <p:nvSpPr>
          <p:cNvPr id="12" name="Connect proposed CO₂, PM2.5, temperature">
            <a:extLst xmlns:a="http://schemas.openxmlformats.org/drawingml/2006/main">
              <a:ext uri="{FF2B5EF4-FFF2-40B4-BE49-F238E27FC236}">
                <a16:creationId xmlns:a16="http://schemas.microsoft.com/office/drawing/2014/main" id="{06CE3F11-FAB7-4922-BF70-59112E21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988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Connect proposed CO₂, PM2.5, temperature and humidity inputs.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C90BEB15-F88F-4441-A5AB-42DBB75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DDB34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4" name="Recorded demonstration">
            <a:extLst xmlns:a="http://schemas.openxmlformats.org/drawingml/2006/main">
              <a:ext uri="{FF2B5EF4-FFF2-40B4-BE49-F238E27FC236}">
                <a16:creationId xmlns:a16="http://schemas.microsoft.com/office/drawing/2014/main" id="{6D4B047B-A5F9-4B45-BE74-89719DB9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48225"/>
            <a:ext cx="988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F39"/>
                </a:solidFill>
                <a:latin typeface="DejaVu Sans"/>
                <a:ea typeface="DejaVu Sans"/>
                <a:cs typeface="DejaVu Sans"/>
              </a:rPr>
              <a:t>Recorded demonstration</a:t>
            </a:r>
          </a:p>
        </p:txBody>
      </p:sp>
      <p:sp>
        <p:nvSpPr>
          <p:cNvPr id="15" name="Show visible causes, missing readings, r">
            <a:extLst xmlns:a="http://schemas.openxmlformats.org/drawingml/2006/main">
              <a:ext uri="{FF2B5EF4-FFF2-40B4-BE49-F238E27FC236}">
                <a16:creationId xmlns:a16="http://schemas.microsoft.com/office/drawing/2014/main" id="{D51C5173-C4DC-4A35-99B7-F868738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988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Show visible causes, missing readings, recovery and fault handling.</a:t>
            </a:r>
          </a:p>
        </p:txBody>
      </p:sp>
      <p:sp>
        <p:nvSpPr>
          <p:cNvPr id="16" name="Proposed bench experiment. Resources and">
            <a:extLst xmlns:a="http://schemas.openxmlformats.org/drawingml/2006/main">
              <a:ext uri="{FF2B5EF4-FFF2-40B4-BE49-F238E27FC236}">
                <a16:creationId xmlns:a16="http://schemas.microsoft.com/office/drawing/2014/main" id="{21FA7700-C17F-454A-81C8-34F3F88C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F7067"/>
                </a:solidFill>
                <a:latin typeface="DejaVu Sans"/>
                <a:ea typeface="DejaVu Sans"/>
                <a:cs typeface="DejaVu Sans"/>
              </a:rPr>
              <a:t>Proposed bench experiment. Resources and engineering choices remain open.</a:t>
            </a:r>
          </a:p>
        </p:txBody>
      </p:sp>
    </p:spTree>
    <p:extLst>
      <p:ext uri="{BB962C8B-B14F-4D97-AF65-F5344CB8AC3E}">
        <p14:creationId xmlns:p14="http://schemas.microsoft.com/office/powerpoint/2010/main" val="337652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F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gineering partner sought">
            <a:extLst xmlns:a="http://schemas.openxmlformats.org/drawingml/2006/main">
              <a:ext uri="{FF2B5EF4-FFF2-40B4-BE49-F238E27FC236}">
                <a16:creationId xmlns:a16="http://schemas.microsoft.com/office/drawing/2014/main" id="{5235A2E0-A9AE-4A78-BF87-5B204A9C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Engineering partner sought</a:t>
            </a:r>
          </a:p>
        </p:txBody>
      </p:sp>
      <p:sp>
        <p:nvSpPr>
          <p:cNvPr id="2" name="BIRP  •  Partner discussion  •  October ">
            <a:extLst xmlns:a="http://schemas.openxmlformats.org/drawingml/2006/main">
              <a:ext uri="{FF2B5EF4-FFF2-40B4-BE49-F238E27FC236}">
                <a16:creationId xmlns:a16="http://schemas.microsoft.com/office/drawing/2014/main" id="{64E8F0BB-A189-4124-B292-F55D29D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6E0D6"/>
                </a:solidFill>
                <a:latin typeface="DejaVu Sans"/>
                <a:ea typeface="DejaVu Sans"/>
                <a:cs typeface="DejaVu Sans"/>
              </a:rPr>
              <a:t>BIRP  •  Partner discussion  •  October 2026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F0949310-CF51-4437-947B-CF16BA24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Help turn the perimeter-bird concept&#10;int">
            <a:extLst xmlns:a="http://schemas.openxmlformats.org/drawingml/2006/main">
              <a:ext uri="{FF2B5EF4-FFF2-40B4-BE49-F238E27FC236}">
                <a16:creationId xmlns:a16="http://schemas.microsoft.com/office/drawing/2014/main" id="{95AC9B3D-DDB2-434D-98B3-FCB983FC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Help turn the perimeter-bird concept</a:t>
            </a:r>
          </a:p>
          <a:p xmlns:a="http://schemas.openxmlformats.org/drawingml/2006/main">
            <a:pPr>
              <a:def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into one reproducible bench demonstration.</a:t>
            </a:r>
          </a:p>
        </p:txBody>
      </p:sp>
      <p:sp>
        <p:nvSpPr>
          <p:cNvPr id="5" name="Mechanical motion and enclosure feasibil">
            <a:extLst xmlns:a="http://schemas.openxmlformats.org/drawingml/2006/main">
              <a:ext uri="{FF2B5EF4-FFF2-40B4-BE49-F238E27FC236}">
                <a16:creationId xmlns:a16="http://schemas.microsoft.com/office/drawing/2014/main" id="{5735D623-1F0A-482E-881D-A7386F8D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Mechanical motion and enclosure feasibility</a:t>
            </a:r>
          </a:p>
          <a:p xmlns:a="http://schemas.openxmlformats.org/drawingml/2006/main">
            <a: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Sensor, display and embedded control integration</a:t>
            </a:r>
          </a:p>
          <a:p xmlns:a="http://schemas.openxmlformats.org/drawingml/2006/main">
            <a:pPr>
              <a:def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A scoped prototype plan with measured limits</a:t>
            </a:r>
          </a:p>
        </p:txBody>
      </p:sp>
      <p:sp>
        <p:nvSpPr>
          <p:cNvPr id="6" name="Next discussion: feasibility, contributi">
            <a:extLst xmlns:a="http://schemas.openxmlformats.org/drawingml/2006/main">
              <a:ext uri="{FF2B5EF4-FFF2-40B4-BE49-F238E27FC236}">
                <a16:creationId xmlns:a16="http://schemas.microsoft.com/office/drawing/2014/main" id="{7C2AA5F3-10C5-41D3-8F2D-E79F1BF2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DB345"/>
                </a:solidFill>
                <a:latin typeface="DejaVu Sans"/>
                <a:ea typeface="DejaVu Sans"/>
                <a:cs typeface="DejaVu Sans"/>
              </a:rPr>
              <a:t>Next discussion: feasibility, contribution and prototype scope.</a:t>
            </a:r>
          </a:p>
        </p:txBody>
      </p:sp>
      <p:sp>
        <p:nvSpPr>
          <p:cNvPr id="7" name="birp-home-canary.oolongee.chatgpt.site">
            <a:extLst xmlns:a="http://schemas.openxmlformats.org/drawingml/2006/main">
              <a:ext uri="{FF2B5EF4-FFF2-40B4-BE49-F238E27FC236}">
                <a16:creationId xmlns:a16="http://schemas.microsoft.com/office/drawing/2014/main" id="{63A46F74-6FF4-4937-A997-17D431F5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7F0"/>
                </a:solidFill>
                <a:latin typeface="DejaVu Sans"/>
                <a:ea typeface="DejaVu Sans"/>
                <a:cs typeface="DejaVu Sans"/>
              </a:rPr>
              <a:t>birp-home-canary.oolongee.chatgpt.site</a:t>
            </a:r>
          </a:p>
        </p:txBody>
      </p:sp>
    </p:spTree>
    <p:extLst>
      <p:ext uri="{BB962C8B-B14F-4D97-AF65-F5344CB8AC3E}">
        <p14:creationId xmlns:p14="http://schemas.microsoft.com/office/powerpoint/2010/main" val="911183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2026-10-20T10:48:33.4790000Z</dcterms:created>
  <dcterms:modified xsi:type="dcterms:W3CDTF">2026-10-20T10:48:33.4790000Z</dcterms:modified>
</coreProperties>
</file>